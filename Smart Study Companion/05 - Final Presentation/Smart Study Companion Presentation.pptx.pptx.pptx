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imo Bold" charset="1" panose="020B0704020202020204"/>
      <p:regular r:id="rId11"/>
    </p:embeddedFont>
    <p:embeddedFont>
      <p:font typeface="Arimo" charset="1" panose="020B0604020202020204"/>
      <p:regular r:id="rId12"/>
    </p:embeddedFont>
    <p:embeddedFont>
      <p:font typeface="Calibri (MS) Bold" charset="1" panose="020F070203040403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jpeg" Type="http://schemas.openxmlformats.org/officeDocument/2006/relationships/image"/><Relationship Id="rId15" Target="../media/image17.jpe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16.jpe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436269"/>
            <a:ext cx="9366885" cy="3128962"/>
            <a:chOff x="0" y="0"/>
            <a:chExt cx="12489180" cy="4171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89180" cy="4171950"/>
            </a:xfrm>
            <a:custGeom>
              <a:avLst/>
              <a:gdLst/>
              <a:ahLst/>
              <a:cxnLst/>
              <a:rect r="r" b="b" t="t" l="l"/>
              <a:pathLst>
                <a:path h="4171950" w="1248918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2184380" y="0"/>
                  </a:lnTo>
                  <a:cubicBezTo>
                    <a:pt x="12352655" y="0"/>
                    <a:pt x="12489180" y="136398"/>
                    <a:pt x="12489180" y="304800"/>
                  </a:cubicBezTo>
                  <a:lnTo>
                    <a:pt x="12489180" y="3867150"/>
                  </a:lnTo>
                  <a:cubicBezTo>
                    <a:pt x="12489180" y="4035425"/>
                    <a:pt x="12352782" y="4171950"/>
                    <a:pt x="12184380" y="4171950"/>
                  </a:cubicBezTo>
                  <a:lnTo>
                    <a:pt x="304800" y="4171950"/>
                  </a:lnTo>
                  <a:cubicBezTo>
                    <a:pt x="136525" y="4171950"/>
                    <a:pt x="0" y="4035552"/>
                    <a:pt x="0" y="3867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738399" y="4214812"/>
            <a:ext cx="6635210" cy="3571875"/>
            <a:chOff x="0" y="0"/>
            <a:chExt cx="8846947" cy="476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46947" cy="4762500"/>
            </a:xfrm>
            <a:custGeom>
              <a:avLst/>
              <a:gdLst/>
              <a:ahLst/>
              <a:cxnLst/>
              <a:rect r="r" b="b" t="t" l="l"/>
              <a:pathLst>
                <a:path h="4762500" w="8846947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8542147" y="0"/>
                  </a:lnTo>
                  <a:cubicBezTo>
                    <a:pt x="8710422" y="0"/>
                    <a:pt x="8846947" y="136525"/>
                    <a:pt x="8846947" y="304800"/>
                  </a:cubicBezTo>
                  <a:lnTo>
                    <a:pt x="8846947" y="4457700"/>
                  </a:lnTo>
                  <a:cubicBezTo>
                    <a:pt x="8846947" y="4625975"/>
                    <a:pt x="8710422" y="4762500"/>
                    <a:pt x="8542147" y="4762500"/>
                  </a:cubicBezTo>
                  <a:lnTo>
                    <a:pt x="304800" y="4762500"/>
                  </a:lnTo>
                  <a:cubicBezTo>
                    <a:pt x="136525" y="4762500"/>
                    <a:pt x="0" y="4625975"/>
                    <a:pt x="0" y="44577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550944"/>
            <a:ext cx="9366790" cy="14288"/>
            <a:chOff x="0" y="0"/>
            <a:chExt cx="12489053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89053" cy="19050"/>
            </a:xfrm>
            <a:custGeom>
              <a:avLst/>
              <a:gdLst/>
              <a:ahLst/>
              <a:cxnLst/>
              <a:rect r="r" b="b" t="t" l="l"/>
              <a:pathLst>
                <a:path h="19050" w="12489053">
                  <a:moveTo>
                    <a:pt x="0" y="0"/>
                  </a:moveTo>
                  <a:lnTo>
                    <a:pt x="12489053" y="0"/>
                  </a:lnTo>
                  <a:lnTo>
                    <a:pt x="1248905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4436269"/>
            <a:ext cx="9366790" cy="14288"/>
            <a:chOff x="0" y="0"/>
            <a:chExt cx="12489053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89053" cy="19050"/>
            </a:xfrm>
            <a:custGeom>
              <a:avLst/>
              <a:gdLst/>
              <a:ahLst/>
              <a:cxnLst/>
              <a:rect r="r" b="b" t="t" l="l"/>
              <a:pathLst>
                <a:path h="19050" w="12489053">
                  <a:moveTo>
                    <a:pt x="0" y="0"/>
                  </a:moveTo>
                  <a:lnTo>
                    <a:pt x="12489053" y="0"/>
                  </a:lnTo>
                  <a:lnTo>
                    <a:pt x="1248905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4436269"/>
            <a:ext cx="85725" cy="3128962"/>
            <a:chOff x="0" y="0"/>
            <a:chExt cx="114300" cy="4171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300" cy="4171950"/>
            </a:xfrm>
            <a:custGeom>
              <a:avLst/>
              <a:gdLst/>
              <a:ahLst/>
              <a:cxnLst/>
              <a:rect r="r" b="b" t="t" l="l"/>
              <a:pathLst>
                <a:path h="417195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4171950"/>
                  </a:lnTo>
                  <a:lnTo>
                    <a:pt x="0" y="417195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66912" y="4436269"/>
            <a:ext cx="14288" cy="3128962"/>
            <a:chOff x="0" y="0"/>
            <a:chExt cx="19050" cy="41719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" cy="4171950"/>
            </a:xfrm>
            <a:custGeom>
              <a:avLst/>
              <a:gdLst/>
              <a:ahLst/>
              <a:cxnLst/>
              <a:rect r="r" b="b" t="t" l="l"/>
              <a:pathLst>
                <a:path h="4171950" w="19050">
                  <a:moveTo>
                    <a:pt x="0" y="0"/>
                  </a:moveTo>
                  <a:lnTo>
                    <a:pt x="19050" y="0"/>
                  </a:lnTo>
                  <a:lnTo>
                    <a:pt x="19050" y="4171950"/>
                  </a:lnTo>
                  <a:lnTo>
                    <a:pt x="0" y="41719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09899" y="6672262"/>
            <a:ext cx="5492210" cy="14288"/>
            <a:chOff x="0" y="0"/>
            <a:chExt cx="7322947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22947" cy="19050"/>
            </a:xfrm>
            <a:custGeom>
              <a:avLst/>
              <a:gdLst/>
              <a:ahLst/>
              <a:cxnLst/>
              <a:rect r="r" b="b" t="t" l="l"/>
              <a:pathLst>
                <a:path h="19050" w="7322947">
                  <a:moveTo>
                    <a:pt x="0" y="0"/>
                  </a:moveTo>
                  <a:lnTo>
                    <a:pt x="7322947" y="0"/>
                  </a:lnTo>
                  <a:lnTo>
                    <a:pt x="732294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98820" y="4786312"/>
            <a:ext cx="514350" cy="514350"/>
            <a:chOff x="0" y="0"/>
            <a:chExt cx="685800" cy="685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88" t="0" r="-1388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475" y="5029200"/>
            <a:ext cx="342900" cy="342900"/>
            <a:chOff x="0" y="0"/>
            <a:chExt cx="457200" cy="4572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781050"/>
            <a:ext cx="896540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SLIDE 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3240" y="2384812"/>
            <a:ext cx="941367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Smart Study Companion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3240" y="3227775"/>
            <a:ext cx="5557209" cy="3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Improving Academic Productivity with 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4475" y="5455444"/>
            <a:ext cx="838096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Traditional weekly revision involves manually reading lectures, extracting definitions, preparing summaries, and assessing understanding.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23366" y="5719763"/>
            <a:ext cx="686525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8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68 </a:t>
            </a:r>
            <a:r>
              <a:rPr lang="en-US" sz="8100" b="true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min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23366" y="6862762"/>
            <a:ext cx="686525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Measured manual revision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28825" y="4926806"/>
            <a:ext cx="2249815" cy="47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7F1D1D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894" y="3719208"/>
            <a:ext cx="8083153" cy="5894403"/>
          </a:xfrm>
          <a:custGeom>
            <a:avLst/>
            <a:gdLst/>
            <a:ahLst/>
            <a:cxnLst/>
            <a:rect r="r" b="b" t="t" l="l"/>
            <a:pathLst>
              <a:path h="5894403" w="8083153">
                <a:moveTo>
                  <a:pt x="0" y="0"/>
                </a:moveTo>
                <a:lnTo>
                  <a:pt x="8083153" y="0"/>
                </a:lnTo>
                <a:lnTo>
                  <a:pt x="8083153" y="5894403"/>
                </a:lnTo>
                <a:lnTo>
                  <a:pt x="0" y="5894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02944" y="3719208"/>
            <a:ext cx="8083153" cy="5894403"/>
          </a:xfrm>
          <a:custGeom>
            <a:avLst/>
            <a:gdLst/>
            <a:ahLst/>
            <a:cxnLst/>
            <a:rect r="r" b="b" t="t" l="l"/>
            <a:pathLst>
              <a:path h="5894403" w="8083153">
                <a:moveTo>
                  <a:pt x="0" y="0"/>
                </a:moveTo>
                <a:lnTo>
                  <a:pt x="8083153" y="0"/>
                </a:lnTo>
                <a:lnTo>
                  <a:pt x="8083153" y="5894403"/>
                </a:lnTo>
                <a:lnTo>
                  <a:pt x="0" y="589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1894" y="2447630"/>
            <a:ext cx="3185398" cy="839391"/>
          </a:xfrm>
          <a:custGeom>
            <a:avLst/>
            <a:gdLst/>
            <a:ahLst/>
            <a:cxnLst/>
            <a:rect r="r" b="b" t="t" l="l"/>
            <a:pathLst>
              <a:path h="839391" w="3185398">
                <a:moveTo>
                  <a:pt x="0" y="0"/>
                </a:moveTo>
                <a:lnTo>
                  <a:pt x="3185398" y="0"/>
                </a:lnTo>
                <a:lnTo>
                  <a:pt x="3185398" y="839390"/>
                </a:lnTo>
                <a:lnTo>
                  <a:pt x="0" y="839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33786" y="2447630"/>
            <a:ext cx="3185398" cy="839391"/>
          </a:xfrm>
          <a:custGeom>
            <a:avLst/>
            <a:gdLst/>
            <a:ahLst/>
            <a:cxnLst/>
            <a:rect r="r" b="b" t="t" l="l"/>
            <a:pathLst>
              <a:path h="839391" w="3185398">
                <a:moveTo>
                  <a:pt x="0" y="0"/>
                </a:moveTo>
                <a:lnTo>
                  <a:pt x="3185398" y="0"/>
                </a:lnTo>
                <a:lnTo>
                  <a:pt x="3185398" y="839390"/>
                </a:lnTo>
                <a:lnTo>
                  <a:pt x="0" y="839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65669" y="2447630"/>
            <a:ext cx="3185398" cy="839391"/>
          </a:xfrm>
          <a:custGeom>
            <a:avLst/>
            <a:gdLst/>
            <a:ahLst/>
            <a:cxnLst/>
            <a:rect r="r" b="b" t="t" l="l"/>
            <a:pathLst>
              <a:path h="839391" w="3185398">
                <a:moveTo>
                  <a:pt x="0" y="0"/>
                </a:moveTo>
                <a:lnTo>
                  <a:pt x="3185399" y="0"/>
                </a:lnTo>
                <a:lnTo>
                  <a:pt x="3185399" y="839390"/>
                </a:lnTo>
                <a:lnTo>
                  <a:pt x="0" y="839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97572" y="2447630"/>
            <a:ext cx="3185398" cy="839391"/>
          </a:xfrm>
          <a:custGeom>
            <a:avLst/>
            <a:gdLst/>
            <a:ahLst/>
            <a:cxnLst/>
            <a:rect r="r" b="b" t="t" l="l"/>
            <a:pathLst>
              <a:path h="839391" w="3185398">
                <a:moveTo>
                  <a:pt x="0" y="0"/>
                </a:moveTo>
                <a:lnTo>
                  <a:pt x="3185398" y="0"/>
                </a:lnTo>
                <a:lnTo>
                  <a:pt x="3185398" y="839390"/>
                </a:lnTo>
                <a:lnTo>
                  <a:pt x="0" y="839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241961" y="2460127"/>
            <a:ext cx="3131915" cy="814388"/>
            <a:chOff x="0" y="0"/>
            <a:chExt cx="4175887" cy="1085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75887" cy="1085850"/>
            </a:xfrm>
            <a:custGeom>
              <a:avLst/>
              <a:gdLst/>
              <a:ahLst/>
              <a:cxnLst/>
              <a:rect r="r" b="b" t="t" l="l"/>
              <a:pathLst>
                <a:path h="1085850" w="4175887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947287" y="0"/>
                  </a:lnTo>
                  <a:cubicBezTo>
                    <a:pt x="4073525" y="0"/>
                    <a:pt x="4175887" y="102362"/>
                    <a:pt x="4175887" y="228600"/>
                  </a:cubicBezTo>
                  <a:lnTo>
                    <a:pt x="4175887" y="857250"/>
                  </a:lnTo>
                  <a:cubicBezTo>
                    <a:pt x="4175887" y="983488"/>
                    <a:pt x="4073525" y="1085850"/>
                    <a:pt x="3947287" y="1085850"/>
                  </a:cubicBezTo>
                  <a:lnTo>
                    <a:pt x="228600" y="1085850"/>
                  </a:lnTo>
                  <a:cubicBezTo>
                    <a:pt x="102362" y="1085850"/>
                    <a:pt x="0" y="983488"/>
                    <a:pt x="0" y="85725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1588" y="4088902"/>
            <a:ext cx="571500" cy="571500"/>
            <a:chOff x="0" y="0"/>
            <a:chExt cx="762000" cy="762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50" r="0" b="-125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72638" y="4088902"/>
            <a:ext cx="571500" cy="571500"/>
            <a:chOff x="0" y="0"/>
            <a:chExt cx="762000" cy="762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50" r="0" b="-125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8744" y="4231777"/>
            <a:ext cx="357188" cy="285750"/>
            <a:chOff x="0" y="0"/>
            <a:chExt cx="476250" cy="381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79" r="0" b="-48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779794" y="4231777"/>
            <a:ext cx="357188" cy="285750"/>
            <a:chOff x="0" y="0"/>
            <a:chExt cx="476250" cy="381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79" r="0" b="-48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71588" y="6180687"/>
            <a:ext cx="257175" cy="271462"/>
            <a:chOff x="0" y="0"/>
            <a:chExt cx="342900" cy="3619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1588" y="6680749"/>
            <a:ext cx="257175" cy="271462"/>
            <a:chOff x="0" y="0"/>
            <a:chExt cx="342900" cy="3619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71588" y="7180812"/>
            <a:ext cx="257175" cy="271462"/>
            <a:chOff x="0" y="0"/>
            <a:chExt cx="342900" cy="3619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71588" y="7680874"/>
            <a:ext cx="257175" cy="271462"/>
            <a:chOff x="0" y="0"/>
            <a:chExt cx="342900" cy="3619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72638" y="6180687"/>
            <a:ext cx="228600" cy="271462"/>
            <a:chOff x="0" y="0"/>
            <a:chExt cx="304800" cy="3619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72638" y="6680749"/>
            <a:ext cx="228600" cy="271462"/>
            <a:chOff x="0" y="0"/>
            <a:chExt cx="304800" cy="36195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72638" y="7180812"/>
            <a:ext cx="228600" cy="271462"/>
            <a:chOff x="0" y="0"/>
            <a:chExt cx="304800" cy="3619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72638" y="7680874"/>
            <a:ext cx="228600" cy="271462"/>
            <a:chOff x="0" y="0"/>
            <a:chExt cx="304800" cy="36195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14400" y="666750"/>
            <a:ext cx="173736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SLIDE 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1019175"/>
            <a:ext cx="17373600" cy="65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Our Solution – Smart Study Companion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" y="1979114"/>
            <a:ext cx="17373600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 b="true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THE WORKFLOW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7941" y="2669677"/>
            <a:ext cx="3493351" cy="37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1E40AF"/>
                </a:solidFill>
                <a:latin typeface="Arimo Bold"/>
                <a:ea typeface="Arimo Bold"/>
                <a:cs typeface="Arimo Bold"/>
                <a:sym typeface="Arimo Bold"/>
              </a:rPr>
              <a:t>1. Lecture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79834" y="2669677"/>
            <a:ext cx="3493351" cy="37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1E40AF"/>
                </a:solidFill>
                <a:latin typeface="Arimo Bold"/>
                <a:ea typeface="Arimo Bold"/>
                <a:cs typeface="Arimo Bold"/>
                <a:sym typeface="Arimo Bold"/>
              </a:rPr>
              <a:t>2. Summary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11726" y="2669677"/>
            <a:ext cx="3493351" cy="37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1E40AF"/>
                </a:solidFill>
                <a:latin typeface="Arimo Bold"/>
                <a:ea typeface="Arimo Bold"/>
                <a:cs typeface="Arimo Bold"/>
                <a:sym typeface="Arimo Bold"/>
              </a:rPr>
              <a:t>3. Quiz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743609" y="2669677"/>
            <a:ext cx="3493351" cy="37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1E40AF"/>
                </a:solidFill>
                <a:latin typeface="Arimo Bold"/>
                <a:ea typeface="Arimo Bold"/>
                <a:cs typeface="Arimo Bold"/>
                <a:sym typeface="Arimo Bold"/>
              </a:rPr>
              <a:t>4. Feedback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079074" y="2669677"/>
            <a:ext cx="3457632" cy="37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5. Revision Plan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14538" y="4155577"/>
            <a:ext cx="354419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4532D"/>
                </a:solidFill>
                <a:latin typeface="Arimo Bold"/>
                <a:ea typeface="Arimo Bold"/>
                <a:cs typeface="Arimo Bold"/>
                <a:sym typeface="Arimo Bold"/>
              </a:rPr>
              <a:t>AI responsibilities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671638" y="6152112"/>
            <a:ext cx="8779669" cy="328612"/>
            <a:chOff x="0" y="0"/>
            <a:chExt cx="11706225" cy="4381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706225" cy="438150"/>
            </a:xfrm>
            <a:custGeom>
              <a:avLst/>
              <a:gdLst/>
              <a:ahLst/>
              <a:cxnLst/>
              <a:rect r="r" b="b" t="t" l="l"/>
              <a:pathLst>
                <a:path h="438150" w="11706225">
                  <a:moveTo>
                    <a:pt x="0" y="0"/>
                  </a:moveTo>
                  <a:lnTo>
                    <a:pt x="11706225" y="0"/>
                  </a:lnTo>
                  <a:lnTo>
                    <a:pt x="11706225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470226" r="0" b="-470228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71638" y="6144968"/>
            <a:ext cx="8779669" cy="335756"/>
            <a:chOff x="0" y="0"/>
            <a:chExt cx="11706225" cy="4476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706225" cy="447674"/>
            </a:xfrm>
            <a:custGeom>
              <a:avLst/>
              <a:gdLst/>
              <a:ahLst/>
              <a:cxnLst/>
              <a:rect r="r" b="b" t="t" l="l"/>
              <a:pathLst>
                <a:path h="447674" w="11706225">
                  <a:moveTo>
                    <a:pt x="0" y="0"/>
                  </a:moveTo>
                  <a:lnTo>
                    <a:pt x="11706225" y="0"/>
                  </a:lnTo>
                  <a:lnTo>
                    <a:pt x="11706225" y="447674"/>
                  </a:lnTo>
                  <a:lnTo>
                    <a:pt x="0" y="447674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59513" r="0" b="-45951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1706225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66534"/>
                  </a:solidFill>
                  <a:latin typeface="Arimo"/>
                  <a:ea typeface="Arimo"/>
                  <a:cs typeface="Arimo"/>
                  <a:sym typeface="Arimo"/>
                </a:rPr>
                <a:t>Summarization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71638" y="6652174"/>
            <a:ext cx="8779669" cy="328612"/>
            <a:chOff x="0" y="0"/>
            <a:chExt cx="11706225" cy="4381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706225" cy="438150"/>
            </a:xfrm>
            <a:custGeom>
              <a:avLst/>
              <a:gdLst/>
              <a:ahLst/>
              <a:cxnLst/>
              <a:rect r="r" b="b" t="t" l="l"/>
              <a:pathLst>
                <a:path h="438150" w="11706225">
                  <a:moveTo>
                    <a:pt x="0" y="0"/>
                  </a:moveTo>
                  <a:lnTo>
                    <a:pt x="11706225" y="0"/>
                  </a:lnTo>
                  <a:lnTo>
                    <a:pt x="11706225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470226" r="0" b="-470228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71638" y="6645031"/>
            <a:ext cx="8779669" cy="335756"/>
            <a:chOff x="0" y="0"/>
            <a:chExt cx="11706225" cy="4476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706225" cy="447674"/>
            </a:xfrm>
            <a:custGeom>
              <a:avLst/>
              <a:gdLst/>
              <a:ahLst/>
              <a:cxnLst/>
              <a:rect r="r" b="b" t="t" l="l"/>
              <a:pathLst>
                <a:path h="447674" w="11706225">
                  <a:moveTo>
                    <a:pt x="0" y="0"/>
                  </a:moveTo>
                  <a:lnTo>
                    <a:pt x="11706225" y="0"/>
                  </a:lnTo>
                  <a:lnTo>
                    <a:pt x="11706225" y="447674"/>
                  </a:lnTo>
                  <a:lnTo>
                    <a:pt x="0" y="447674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59513" r="0" b="-45951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1706225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66534"/>
                  </a:solidFill>
                  <a:latin typeface="Arimo"/>
                  <a:ea typeface="Arimo"/>
                  <a:cs typeface="Arimo"/>
                  <a:sym typeface="Arimo"/>
                </a:rPr>
                <a:t>Quiz generation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71638" y="7152237"/>
            <a:ext cx="8779669" cy="328612"/>
            <a:chOff x="0" y="0"/>
            <a:chExt cx="11706225" cy="4381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706225" cy="438150"/>
            </a:xfrm>
            <a:custGeom>
              <a:avLst/>
              <a:gdLst/>
              <a:ahLst/>
              <a:cxnLst/>
              <a:rect r="r" b="b" t="t" l="l"/>
              <a:pathLst>
                <a:path h="438150" w="11706225">
                  <a:moveTo>
                    <a:pt x="0" y="0"/>
                  </a:moveTo>
                  <a:lnTo>
                    <a:pt x="11706225" y="0"/>
                  </a:lnTo>
                  <a:lnTo>
                    <a:pt x="11706225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470226" r="0" b="-470228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671638" y="7145093"/>
            <a:ext cx="8779669" cy="335756"/>
            <a:chOff x="0" y="0"/>
            <a:chExt cx="11706225" cy="4476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706225" cy="447674"/>
            </a:xfrm>
            <a:custGeom>
              <a:avLst/>
              <a:gdLst/>
              <a:ahLst/>
              <a:cxnLst/>
              <a:rect r="r" b="b" t="t" l="l"/>
              <a:pathLst>
                <a:path h="447674" w="11706225">
                  <a:moveTo>
                    <a:pt x="0" y="0"/>
                  </a:moveTo>
                  <a:lnTo>
                    <a:pt x="11706225" y="0"/>
                  </a:lnTo>
                  <a:lnTo>
                    <a:pt x="11706225" y="447674"/>
                  </a:lnTo>
                  <a:lnTo>
                    <a:pt x="0" y="447674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59513" r="0" b="-45951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1706225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66534"/>
                  </a:solidFill>
                  <a:latin typeface="Arimo"/>
                  <a:ea typeface="Arimo"/>
                  <a:cs typeface="Arimo"/>
                  <a:sym typeface="Arimo"/>
                </a:rPr>
                <a:t>Preliminary feedback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671638" y="7652299"/>
            <a:ext cx="8779669" cy="328612"/>
            <a:chOff x="0" y="0"/>
            <a:chExt cx="11706225" cy="4381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706225" cy="438150"/>
            </a:xfrm>
            <a:custGeom>
              <a:avLst/>
              <a:gdLst/>
              <a:ahLst/>
              <a:cxnLst/>
              <a:rect r="r" b="b" t="t" l="l"/>
              <a:pathLst>
                <a:path h="438150" w="11706225">
                  <a:moveTo>
                    <a:pt x="0" y="0"/>
                  </a:moveTo>
                  <a:lnTo>
                    <a:pt x="11706225" y="0"/>
                  </a:lnTo>
                  <a:lnTo>
                    <a:pt x="11706225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470226" r="0" b="-470228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671638" y="7645156"/>
            <a:ext cx="8779669" cy="335756"/>
            <a:chOff x="0" y="0"/>
            <a:chExt cx="11706225" cy="44767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706225" cy="447674"/>
            </a:xfrm>
            <a:custGeom>
              <a:avLst/>
              <a:gdLst/>
              <a:ahLst/>
              <a:cxnLst/>
              <a:rect r="r" b="b" t="t" l="l"/>
              <a:pathLst>
                <a:path h="447674" w="11706225">
                  <a:moveTo>
                    <a:pt x="0" y="0"/>
                  </a:moveTo>
                  <a:lnTo>
                    <a:pt x="11706225" y="0"/>
                  </a:lnTo>
                  <a:lnTo>
                    <a:pt x="11706225" y="447674"/>
                  </a:lnTo>
                  <a:lnTo>
                    <a:pt x="0" y="447674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59513" r="0" b="-45951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11706225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66534"/>
                  </a:solidFill>
                  <a:latin typeface="Arimo"/>
                  <a:ea typeface="Arimo"/>
                  <a:cs typeface="Arimo"/>
                  <a:sym typeface="Arimo"/>
                </a:rPr>
                <a:t>Identifying weak topics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0415588" y="4155577"/>
            <a:ext cx="375046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My responsibilities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0044112" y="6152112"/>
            <a:ext cx="8243888" cy="328612"/>
            <a:chOff x="0" y="0"/>
            <a:chExt cx="10991850" cy="4381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91850" cy="438150"/>
            </a:xfrm>
            <a:custGeom>
              <a:avLst/>
              <a:gdLst/>
              <a:ahLst/>
              <a:cxnLst/>
              <a:rect r="r" b="b" t="t" l="l"/>
              <a:pathLst>
                <a:path h="4381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438481" r="0" b="-438478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044112" y="6144968"/>
            <a:ext cx="8243888" cy="335756"/>
            <a:chOff x="0" y="0"/>
            <a:chExt cx="10991850" cy="44767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91851" cy="447674"/>
            </a:xfrm>
            <a:custGeom>
              <a:avLst/>
              <a:gdLst/>
              <a:ahLst/>
              <a:cxnLst/>
              <a:rect r="r" b="b" t="t" l="l"/>
              <a:pathLst>
                <a:path h="447674" w="10991851">
                  <a:moveTo>
                    <a:pt x="0" y="0"/>
                  </a:moveTo>
                  <a:lnTo>
                    <a:pt x="10991851" y="0"/>
                  </a:lnTo>
                  <a:lnTo>
                    <a:pt x="10991851" y="447674"/>
                  </a:lnTo>
                  <a:lnTo>
                    <a:pt x="0" y="447674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28420" r="0" b="-42842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099185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Selecting sources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044112" y="6652174"/>
            <a:ext cx="8243888" cy="328612"/>
            <a:chOff x="0" y="0"/>
            <a:chExt cx="10991850" cy="4381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91850" cy="438150"/>
            </a:xfrm>
            <a:custGeom>
              <a:avLst/>
              <a:gdLst/>
              <a:ahLst/>
              <a:cxnLst/>
              <a:rect r="r" b="b" t="t" l="l"/>
              <a:pathLst>
                <a:path h="4381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438481" r="0" b="-438478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44112" y="6645031"/>
            <a:ext cx="8243888" cy="335756"/>
            <a:chOff x="0" y="0"/>
            <a:chExt cx="10991850" cy="44767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91851" cy="447674"/>
            </a:xfrm>
            <a:custGeom>
              <a:avLst/>
              <a:gdLst/>
              <a:ahLst/>
              <a:cxnLst/>
              <a:rect r="r" b="b" t="t" l="l"/>
              <a:pathLst>
                <a:path h="447674" w="10991851">
                  <a:moveTo>
                    <a:pt x="0" y="0"/>
                  </a:moveTo>
                  <a:lnTo>
                    <a:pt x="10991851" y="0"/>
                  </a:lnTo>
                  <a:lnTo>
                    <a:pt x="10991851" y="447674"/>
                  </a:lnTo>
                  <a:lnTo>
                    <a:pt x="0" y="447674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28420" r="0" b="-42842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1099185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Answering independently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044112" y="7152237"/>
            <a:ext cx="8243888" cy="328612"/>
            <a:chOff x="0" y="0"/>
            <a:chExt cx="10991850" cy="4381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91850" cy="438150"/>
            </a:xfrm>
            <a:custGeom>
              <a:avLst/>
              <a:gdLst/>
              <a:ahLst/>
              <a:cxnLst/>
              <a:rect r="r" b="b" t="t" l="l"/>
              <a:pathLst>
                <a:path h="4381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438481" r="0" b="-438478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044112" y="7145093"/>
            <a:ext cx="8243888" cy="335756"/>
            <a:chOff x="0" y="0"/>
            <a:chExt cx="10991850" cy="44767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91851" cy="447674"/>
            </a:xfrm>
            <a:custGeom>
              <a:avLst/>
              <a:gdLst/>
              <a:ahLst/>
              <a:cxnLst/>
              <a:rect r="r" b="b" t="t" l="l"/>
              <a:pathLst>
                <a:path h="447674" w="10991851">
                  <a:moveTo>
                    <a:pt x="0" y="0"/>
                  </a:moveTo>
                  <a:lnTo>
                    <a:pt x="10991851" y="0"/>
                  </a:lnTo>
                  <a:lnTo>
                    <a:pt x="10991851" y="447674"/>
                  </a:lnTo>
                  <a:lnTo>
                    <a:pt x="0" y="447674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28420" r="0" b="-42842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099185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Verifying information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044112" y="7652299"/>
            <a:ext cx="8243888" cy="328612"/>
            <a:chOff x="0" y="0"/>
            <a:chExt cx="10991850" cy="43815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91850" cy="438150"/>
            </a:xfrm>
            <a:custGeom>
              <a:avLst/>
              <a:gdLst/>
              <a:ahLst/>
              <a:cxnLst/>
              <a:rect r="r" b="b" t="t" l="l"/>
              <a:pathLst>
                <a:path h="4381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14">
                <a:alphaModFix amt="0"/>
              </a:blip>
              <a:stretch>
                <a:fillRect l="0" t="-438481" r="0" b="-438478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044112" y="7645156"/>
            <a:ext cx="8243888" cy="335756"/>
            <a:chOff x="0" y="0"/>
            <a:chExt cx="10991850" cy="44767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91851" cy="447674"/>
            </a:xfrm>
            <a:custGeom>
              <a:avLst/>
              <a:gdLst/>
              <a:ahLst/>
              <a:cxnLst/>
              <a:rect r="r" b="b" t="t" l="l"/>
              <a:pathLst>
                <a:path h="447674" w="10991851">
                  <a:moveTo>
                    <a:pt x="0" y="0"/>
                  </a:moveTo>
                  <a:lnTo>
                    <a:pt x="10991851" y="0"/>
                  </a:lnTo>
                  <a:lnTo>
                    <a:pt x="10991851" y="447674"/>
                  </a:lnTo>
                  <a:lnTo>
                    <a:pt x="0" y="447674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28420" r="0" b="-42842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1099185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34155"/>
                  </a:solidFill>
                  <a:latin typeface="Arimo"/>
                  <a:ea typeface="Arimo"/>
                  <a:cs typeface="Arimo"/>
                  <a:sym typeface="Arimo"/>
                </a:rPr>
                <a:t>Approving the final revision plan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894" y="9119883"/>
            <a:ext cx="16484203" cy="667941"/>
          </a:xfrm>
          <a:custGeom>
            <a:avLst/>
            <a:gdLst/>
            <a:ahLst/>
            <a:cxnLst/>
            <a:rect r="r" b="b" t="t" l="l"/>
            <a:pathLst>
              <a:path h="667941" w="16484203">
                <a:moveTo>
                  <a:pt x="0" y="0"/>
                </a:moveTo>
                <a:lnTo>
                  <a:pt x="16484203" y="0"/>
                </a:lnTo>
                <a:lnTo>
                  <a:pt x="16484203" y="667940"/>
                </a:lnTo>
                <a:lnTo>
                  <a:pt x="0" y="667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1894" y="2747658"/>
            <a:ext cx="16484203" cy="1025128"/>
          </a:xfrm>
          <a:custGeom>
            <a:avLst/>
            <a:gdLst/>
            <a:ahLst/>
            <a:cxnLst/>
            <a:rect r="r" b="b" t="t" l="l"/>
            <a:pathLst>
              <a:path h="1025128" w="16484203">
                <a:moveTo>
                  <a:pt x="0" y="0"/>
                </a:moveTo>
                <a:lnTo>
                  <a:pt x="16484203" y="0"/>
                </a:lnTo>
                <a:lnTo>
                  <a:pt x="16484203" y="1025128"/>
                </a:lnTo>
                <a:lnTo>
                  <a:pt x="0" y="102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1894" y="3976383"/>
            <a:ext cx="16484203" cy="1025128"/>
          </a:xfrm>
          <a:custGeom>
            <a:avLst/>
            <a:gdLst/>
            <a:ahLst/>
            <a:cxnLst/>
            <a:rect r="r" b="b" t="t" l="l"/>
            <a:pathLst>
              <a:path h="1025128" w="16484203">
                <a:moveTo>
                  <a:pt x="0" y="0"/>
                </a:moveTo>
                <a:lnTo>
                  <a:pt x="16484203" y="0"/>
                </a:lnTo>
                <a:lnTo>
                  <a:pt x="16484203" y="1025128"/>
                </a:lnTo>
                <a:lnTo>
                  <a:pt x="0" y="102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1894" y="5205108"/>
            <a:ext cx="16484203" cy="1025128"/>
          </a:xfrm>
          <a:custGeom>
            <a:avLst/>
            <a:gdLst/>
            <a:ahLst/>
            <a:cxnLst/>
            <a:rect r="r" b="b" t="t" l="l"/>
            <a:pathLst>
              <a:path h="1025128" w="16484203">
                <a:moveTo>
                  <a:pt x="0" y="0"/>
                </a:moveTo>
                <a:lnTo>
                  <a:pt x="16484203" y="0"/>
                </a:lnTo>
                <a:lnTo>
                  <a:pt x="16484203" y="1025128"/>
                </a:lnTo>
                <a:lnTo>
                  <a:pt x="0" y="102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1894" y="6433833"/>
            <a:ext cx="16484203" cy="1025128"/>
          </a:xfrm>
          <a:custGeom>
            <a:avLst/>
            <a:gdLst/>
            <a:ahLst/>
            <a:cxnLst/>
            <a:rect r="r" b="b" t="t" l="l"/>
            <a:pathLst>
              <a:path h="1025128" w="16484203">
                <a:moveTo>
                  <a:pt x="0" y="0"/>
                </a:moveTo>
                <a:lnTo>
                  <a:pt x="16484203" y="0"/>
                </a:lnTo>
                <a:lnTo>
                  <a:pt x="16484203" y="1025128"/>
                </a:lnTo>
                <a:lnTo>
                  <a:pt x="0" y="102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1894" y="7662558"/>
            <a:ext cx="16484203" cy="1025128"/>
          </a:xfrm>
          <a:custGeom>
            <a:avLst/>
            <a:gdLst/>
            <a:ahLst/>
            <a:cxnLst/>
            <a:rect r="r" b="b" t="t" l="l"/>
            <a:pathLst>
              <a:path h="1025128" w="16484203">
                <a:moveTo>
                  <a:pt x="0" y="0"/>
                </a:moveTo>
                <a:lnTo>
                  <a:pt x="16484203" y="0"/>
                </a:lnTo>
                <a:lnTo>
                  <a:pt x="16484203" y="1025128"/>
                </a:lnTo>
                <a:lnTo>
                  <a:pt x="0" y="102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71588" y="3031627"/>
            <a:ext cx="457200" cy="457200"/>
            <a:chOff x="0" y="0"/>
            <a:chExt cx="609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1588" y="4260352"/>
            <a:ext cx="457200" cy="457200"/>
            <a:chOff x="0" y="0"/>
            <a:chExt cx="609600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71588" y="5489077"/>
            <a:ext cx="457200" cy="457200"/>
            <a:chOff x="0" y="0"/>
            <a:chExt cx="6096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1588" y="6717802"/>
            <a:ext cx="457200" cy="457200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71588" y="7946527"/>
            <a:ext cx="457200" cy="457200"/>
            <a:chOff x="0" y="0"/>
            <a:chExt cx="60960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4438" y="9325270"/>
            <a:ext cx="285750" cy="257175"/>
            <a:chOff x="0" y="0"/>
            <a:chExt cx="381000" cy="3429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777" r="0" b="-277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781050"/>
            <a:ext cx="173736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0A5FA"/>
                </a:solidFill>
                <a:latin typeface="Arimo Bold"/>
                <a:ea typeface="Arimo Bold"/>
                <a:cs typeface="Arimo Bold"/>
                <a:sym typeface="Arimo Bold"/>
              </a:rPr>
              <a:t>SLIDE 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1138238"/>
            <a:ext cx="4801457" cy="64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Live Demonstration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1886245"/>
            <a:ext cx="5117916" cy="38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How Smart Study Companion Works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1638" y="9280027"/>
            <a:ext cx="6232922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6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Switching to live interactive application demo...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57275" y="3031627"/>
            <a:ext cx="885825" cy="457200"/>
            <a:chOff x="0" y="0"/>
            <a:chExt cx="118110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1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267" t="0" r="-16266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7275" y="3017339"/>
            <a:ext cx="885825" cy="471488"/>
            <a:chOff x="0" y="0"/>
            <a:chExt cx="1181100" cy="6286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1100" cy="628650"/>
            </a:xfrm>
            <a:custGeom>
              <a:avLst/>
              <a:gdLst/>
              <a:ahLst/>
              <a:cxnLst/>
              <a:rect r="r" b="b" t="t" l="l"/>
              <a:pathLst>
                <a:path h="62865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290" t="0" r="-1829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81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014538" y="3043533"/>
            <a:ext cx="2946797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Upload a lecture.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57275" y="4260352"/>
            <a:ext cx="885825" cy="457200"/>
            <a:chOff x="0" y="0"/>
            <a:chExt cx="118110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1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267" t="0" r="-16266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57275" y="4246064"/>
            <a:ext cx="885825" cy="471488"/>
            <a:chOff x="0" y="0"/>
            <a:chExt cx="1181100" cy="6286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81100" cy="628650"/>
            </a:xfrm>
            <a:custGeom>
              <a:avLst/>
              <a:gdLst/>
              <a:ahLst/>
              <a:cxnLst/>
              <a:rect r="r" b="b" t="t" l="l"/>
              <a:pathLst>
                <a:path h="62865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290" t="0" r="-1829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181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014538" y="4272258"/>
            <a:ext cx="6804422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Generate a source-grounded summary.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57275" y="5489077"/>
            <a:ext cx="885825" cy="457200"/>
            <a:chOff x="0" y="0"/>
            <a:chExt cx="118110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81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267" t="0" r="-16266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57275" y="5474789"/>
            <a:ext cx="885825" cy="471488"/>
            <a:chOff x="0" y="0"/>
            <a:chExt cx="1181100" cy="6286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81100" cy="628650"/>
            </a:xfrm>
            <a:custGeom>
              <a:avLst/>
              <a:gdLst/>
              <a:ahLst/>
              <a:cxnLst/>
              <a:rect r="r" b="b" t="t" l="l"/>
              <a:pathLst>
                <a:path h="62865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290" t="0" r="-1829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181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014538" y="5500983"/>
            <a:ext cx="6197203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Answer an interactive quiz question.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57275" y="6717802"/>
            <a:ext cx="885825" cy="457200"/>
            <a:chOff x="0" y="0"/>
            <a:chExt cx="11811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81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267" t="0" r="-16266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57275" y="6703514"/>
            <a:ext cx="885825" cy="471488"/>
            <a:chOff x="0" y="0"/>
            <a:chExt cx="1181100" cy="6286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81100" cy="628650"/>
            </a:xfrm>
            <a:custGeom>
              <a:avLst/>
              <a:gdLst/>
              <a:ahLst/>
              <a:cxnLst/>
              <a:rect r="r" b="b" t="t" l="l"/>
              <a:pathLst>
                <a:path h="62865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290" t="0" r="-1829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181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014538" y="6729708"/>
            <a:ext cx="7500938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Receive feedback and identify weak topics.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57275" y="7946527"/>
            <a:ext cx="885825" cy="457200"/>
            <a:chOff x="0" y="0"/>
            <a:chExt cx="118110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811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267" t="0" r="-16266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57275" y="7932239"/>
            <a:ext cx="885825" cy="471488"/>
            <a:chOff x="0" y="0"/>
            <a:chExt cx="1181100" cy="6286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81100" cy="628650"/>
            </a:xfrm>
            <a:custGeom>
              <a:avLst/>
              <a:gdLst/>
              <a:ahLst/>
              <a:cxnLst/>
              <a:rect r="r" b="b" t="t" l="l"/>
              <a:pathLst>
                <a:path h="62865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628650"/>
                  </a:lnTo>
                  <a:lnTo>
                    <a:pt x="0" y="6286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290" t="0" r="-1829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181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014538" y="7958433"/>
            <a:ext cx="10340578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Test whether the assistant refuses unsupported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668000" y="2353733"/>
          <a:ext cx="6921500" cy="2171700"/>
        </p:xfrm>
        <a:graphic>
          <a:graphicData uri="http://schemas.openxmlformats.org/drawingml/2006/table">
            <a:tbl>
              <a:tblPr/>
              <a:tblGrid>
                <a:gridCol w="2220577"/>
                <a:gridCol w="1636507"/>
                <a:gridCol w="1573817"/>
                <a:gridCol w="1490599"/>
              </a:tblGrid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64748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Metric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64748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Manual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64748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Trial 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64748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Trial 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Time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min 68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min 83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563E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min 61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Quiz score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8/10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6/10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6A34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10/10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533400" y="2353732"/>
            <a:ext cx="9433808" cy="4673432"/>
            <a:chOff x="0" y="0"/>
            <a:chExt cx="12578410" cy="62312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8461" cy="6231255"/>
            </a:xfrm>
            <a:custGeom>
              <a:avLst/>
              <a:gdLst/>
              <a:ahLst/>
              <a:cxnLst/>
              <a:rect r="r" b="b" t="t" l="l"/>
              <a:pathLst>
                <a:path h="6231255" w="12578461">
                  <a:moveTo>
                    <a:pt x="0" y="0"/>
                  </a:moveTo>
                  <a:lnTo>
                    <a:pt x="12578461" y="0"/>
                  </a:lnTo>
                  <a:lnTo>
                    <a:pt x="12578461" y="6231255"/>
                  </a:lnTo>
                  <a:lnTo>
                    <a:pt x="0" y="6231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4" r="0" b="-34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204437" y="8948137"/>
            <a:ext cx="13718953" cy="932259"/>
          </a:xfrm>
          <a:custGeom>
            <a:avLst/>
            <a:gdLst/>
            <a:ahLst/>
            <a:cxnLst/>
            <a:rect r="r" b="b" t="t" l="l"/>
            <a:pathLst>
              <a:path h="932259" w="13718953">
                <a:moveTo>
                  <a:pt x="0" y="0"/>
                </a:moveTo>
                <a:lnTo>
                  <a:pt x="13718953" y="0"/>
                </a:lnTo>
                <a:lnTo>
                  <a:pt x="13718953" y="932260"/>
                </a:lnTo>
                <a:lnTo>
                  <a:pt x="0" y="93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12971" y="9115425"/>
            <a:ext cx="14160027" cy="40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 b="true">
                <a:solidFill>
                  <a:srgbClr val="0369A1"/>
                </a:solidFill>
                <a:latin typeface="Arimo Bold"/>
                <a:ea typeface="Arimo Bold"/>
                <a:cs typeface="Arimo Bold"/>
                <a:sym typeface="Arimo Bold"/>
              </a:rPr>
              <a:t>Key finding:</a:t>
            </a:r>
            <a:r>
              <a:rPr lang="en-US" sz="1911">
                <a:solidFill>
                  <a:srgbClr val="0369A1"/>
                </a:solidFill>
                <a:latin typeface="Arimo"/>
                <a:ea typeface="Arimo"/>
                <a:cs typeface="Arimo"/>
                <a:sym typeface="Arimo"/>
              </a:rPr>
              <a:t> Trial 2 was 7 minutes faster than manual revision, while the average of both AI trials was 4 minutes slower.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552450"/>
            <a:ext cx="557212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SLIDE 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1469993"/>
            <a:ext cx="5850731" cy="65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Measured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9600" y="1599914"/>
            <a:ext cx="4500562" cy="39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 b="true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Revision Time Comparison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668000" y="4839168"/>
          <a:ext cx="6934200" cy="1993900"/>
        </p:xfrm>
        <a:graphic>
          <a:graphicData uri="http://schemas.openxmlformats.org/drawingml/2006/table">
            <a:tbl>
              <a:tblPr/>
              <a:tblGrid>
                <a:gridCol w="2213244"/>
                <a:gridCol w="4720956"/>
              </a:tblGrid>
              <a:tr h="5608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64748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Test Case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64748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Result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7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Time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Correct explanation with source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7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Messy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3415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Correct distinction between concepts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5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Edge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Refused unsupported information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2204437" y="7741129"/>
            <a:ext cx="13718953" cy="932259"/>
          </a:xfrm>
          <a:custGeom>
            <a:avLst/>
            <a:gdLst/>
            <a:ahLst/>
            <a:cxnLst/>
            <a:rect r="r" b="b" t="t" l="l"/>
            <a:pathLst>
              <a:path h="932259" w="13718953">
                <a:moveTo>
                  <a:pt x="0" y="0"/>
                </a:moveTo>
                <a:lnTo>
                  <a:pt x="13718953" y="0"/>
                </a:lnTo>
                <a:lnTo>
                  <a:pt x="13718953" y="932260"/>
                </a:lnTo>
                <a:lnTo>
                  <a:pt x="0" y="93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12971" y="7740534"/>
            <a:ext cx="1416002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 b="true">
                <a:solidFill>
                  <a:srgbClr val="1E40A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Average AI time: 72 minutes.</a:t>
            </a:r>
          </a:p>
          <a:p>
            <a:pPr algn="ctr">
              <a:lnSpc>
                <a:spcPts val="2280"/>
              </a:lnSpc>
            </a:pPr>
            <a:r>
              <a:rPr lang="en-US" sz="1900" b="true">
                <a:solidFill>
                  <a:srgbClr val="1E40A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Overall time change : +5.9% (4 minutes slower than manual revision ) .</a:t>
            </a:r>
          </a:p>
          <a:p>
            <a:pPr algn="ctr">
              <a:lnSpc>
                <a:spcPts val="2280"/>
              </a:lnSpc>
            </a:pPr>
            <a:r>
              <a:rPr lang="en-US" sz="1900" b="true">
                <a:solidFill>
                  <a:srgbClr val="1E40A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Trial 2 improvement: 7 minutes faster than manual revision.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95837" y="2761955"/>
            <a:ext cx="8083153" cy="3359534"/>
          </a:xfrm>
          <a:custGeom>
            <a:avLst/>
            <a:gdLst/>
            <a:ahLst/>
            <a:cxnLst/>
            <a:rect r="r" b="b" t="t" l="l"/>
            <a:pathLst>
              <a:path h="3359534" w="8083153">
                <a:moveTo>
                  <a:pt x="0" y="0"/>
                </a:moveTo>
                <a:lnTo>
                  <a:pt x="8083154" y="0"/>
                </a:lnTo>
                <a:lnTo>
                  <a:pt x="8083154" y="3359534"/>
                </a:lnTo>
                <a:lnTo>
                  <a:pt x="0" y="3359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11493" y="2950407"/>
            <a:ext cx="357188" cy="357188"/>
            <a:chOff x="0" y="0"/>
            <a:chExt cx="476250" cy="47625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476250" cy="476250"/>
            </a:xfrm>
            <a:custGeom>
              <a:avLst/>
              <a:gdLst/>
              <a:ahLst/>
              <a:cxnLst/>
              <a:rect r="r" b="b" t="t" l="l"/>
              <a:pathLst>
                <a:path h="4762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1" r="0" b="-2498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666750"/>
            <a:ext cx="173736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B82F6"/>
                </a:solidFill>
                <a:latin typeface="Arimo Bold"/>
                <a:ea typeface="Arimo Bold"/>
                <a:cs typeface="Arimo Bold"/>
                <a:sym typeface="Arimo Bold"/>
              </a:rPr>
              <a:t>SLIDE 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1019175"/>
            <a:ext cx="17373600" cy="65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Risks &amp; Future Plan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7323182"/>
            <a:ext cx="16459200" cy="1521619"/>
            <a:chOff x="0" y="0"/>
            <a:chExt cx="21945600" cy="2028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028825"/>
            </a:xfrm>
            <a:custGeom>
              <a:avLst/>
              <a:gdLst/>
              <a:ahLst/>
              <a:cxnLst/>
              <a:rect r="r" b="b" t="t" l="l"/>
              <a:pathLst>
                <a:path h="2028825" w="219456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21640800" y="0"/>
                  </a:lnTo>
                  <a:cubicBezTo>
                    <a:pt x="21809075" y="0"/>
                    <a:pt x="21945600" y="136398"/>
                    <a:pt x="21945600" y="304800"/>
                  </a:cubicBezTo>
                  <a:lnTo>
                    <a:pt x="21945600" y="1724025"/>
                  </a:lnTo>
                  <a:cubicBezTo>
                    <a:pt x="21945600" y="1892300"/>
                    <a:pt x="21809202" y="2028825"/>
                    <a:pt x="21640800" y="2028825"/>
                  </a:cubicBezTo>
                  <a:lnTo>
                    <a:pt x="304800" y="2028825"/>
                  </a:lnTo>
                  <a:cubicBezTo>
                    <a:pt x="136525" y="2028825"/>
                    <a:pt x="0" y="1892427"/>
                    <a:pt x="0" y="1724025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7701801"/>
            <a:ext cx="257175" cy="285750"/>
            <a:chOff x="0" y="0"/>
            <a:chExt cx="342900" cy="381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71600" y="8020888"/>
            <a:ext cx="16916400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91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Repeat revision sessions, measure time and accuracy, improve instructions, and decide whether to continue, modify, or stop.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0225" y="7632744"/>
            <a:ext cx="232529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30-Day Plan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3337" y="2761955"/>
            <a:ext cx="8083153" cy="3359534"/>
          </a:xfrm>
          <a:custGeom>
            <a:avLst/>
            <a:gdLst/>
            <a:ahLst/>
            <a:cxnLst/>
            <a:rect r="r" b="b" t="t" l="l"/>
            <a:pathLst>
              <a:path h="3359534" w="8083153">
                <a:moveTo>
                  <a:pt x="0" y="0"/>
                </a:moveTo>
                <a:lnTo>
                  <a:pt x="8083154" y="0"/>
                </a:lnTo>
                <a:lnTo>
                  <a:pt x="8083154" y="3359534"/>
                </a:lnTo>
                <a:lnTo>
                  <a:pt x="0" y="3359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71600" y="3203077"/>
            <a:ext cx="285750" cy="285750"/>
            <a:chOff x="0" y="0"/>
            <a:chExt cx="381000" cy="381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500" r="0" b="-250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00225" y="3134020"/>
            <a:ext cx="1740217" cy="49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3048" b="true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Key risks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1600" y="3719808"/>
            <a:ext cx="9179719" cy="42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8">
                <a:solidFill>
                  <a:srgbClr val="DC2626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2598">
                <a:solidFill>
                  <a:srgbClr val="7F1D1D"/>
                </a:solidFill>
                <a:latin typeface="Arimo"/>
                <a:ea typeface="Arimo"/>
                <a:cs typeface="Arimo"/>
                <a:sym typeface="Arimo"/>
              </a:rPr>
              <a:t> Incorrect explanations or fabricated references.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1600" y="4191295"/>
            <a:ext cx="9179719" cy="42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8">
                <a:solidFill>
                  <a:srgbClr val="DC2626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2598">
                <a:solidFill>
                  <a:srgbClr val="7F1D1D"/>
                </a:solidFill>
                <a:latin typeface="Arimo"/>
                <a:ea typeface="Arimo"/>
                <a:cs typeface="Arimo"/>
                <a:sym typeface="Arimo"/>
              </a:rPr>
              <a:t> Overreliance on AI-generated summaries.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1600" y="4662783"/>
            <a:ext cx="9179719" cy="42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8">
                <a:solidFill>
                  <a:srgbClr val="DC2626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2598">
                <a:solidFill>
                  <a:srgbClr val="7F1D1D"/>
                </a:solidFill>
                <a:latin typeface="Arimo"/>
                <a:ea typeface="Arimo"/>
                <a:cs typeface="Arimo"/>
                <a:sym typeface="Arimo"/>
              </a:rPr>
              <a:t> Revealing answers before the student's attempt.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13003" y="2923346"/>
            <a:ext cx="1452829" cy="4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748" b="true">
                <a:solidFill>
                  <a:srgbClr val="14532D"/>
                </a:solidFill>
                <a:latin typeface="Arimo Bold"/>
                <a:ea typeface="Arimo Bold"/>
                <a:cs typeface="Arimo Bold"/>
                <a:sym typeface="Arimo Bold"/>
              </a:rPr>
              <a:t>Controls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45662" y="3561540"/>
            <a:ext cx="7383513" cy="3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8">
                <a:solidFill>
                  <a:srgbClr val="16A3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2298">
                <a:solidFill>
                  <a:srgbClr val="14532D"/>
                </a:solidFill>
                <a:latin typeface="Arimo"/>
                <a:ea typeface="Arimo"/>
                <a:cs typeface="Arimo"/>
                <a:sym typeface="Arimo"/>
              </a:rPr>
              <a:t> Use approved lecture materials only.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45662" y="4075909"/>
            <a:ext cx="7383513" cy="3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8">
                <a:solidFill>
                  <a:srgbClr val="16A3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2298">
                <a:solidFill>
                  <a:srgbClr val="14532D"/>
                </a:solidFill>
                <a:latin typeface="Arimo"/>
                <a:ea typeface="Arimo"/>
                <a:cs typeface="Arimo"/>
                <a:sym typeface="Arimo"/>
              </a:rPr>
              <a:t> Verify answers against the original sources.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45662" y="4590288"/>
            <a:ext cx="7383513" cy="71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8">
                <a:solidFill>
                  <a:srgbClr val="16A34A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r>
              <a:rPr lang="en-US" sz="2298">
                <a:solidFill>
                  <a:srgbClr val="14532D"/>
                </a:solidFill>
                <a:latin typeface="Arimo"/>
                <a:ea typeface="Arimo"/>
                <a:cs typeface="Arimo"/>
                <a:sym typeface="Arimo"/>
              </a:rPr>
              <a:t> Keep final judgment and learning responsibility with the student.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DAHYr5L888s</dc:identifier>
  <dcterms:modified xsi:type="dcterms:W3CDTF">2011-08-01T06:04:30Z</dcterms:modified>
  <cp:revision>1</cp:revision>
  <dc:title>Smart Study Companion Presentation.pptx.pptx</dc:title>
</cp:coreProperties>
</file>